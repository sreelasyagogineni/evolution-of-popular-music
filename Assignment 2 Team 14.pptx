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strument Sans Medium"/>
      <p:regular r:id="rId14"/>
      <p:bold r:id="rId15"/>
      <p:italic r:id="rId16"/>
      <p:boldItalic r:id="rId17"/>
    </p:embeddedFont>
    <p:embeddedFont>
      <p:font typeface="Instrument Sans SemiBold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Instrument Sans"/>
      <p:regular r:id="rId24"/>
      <p:bold r:id="rId25"/>
      <p:italic r:id="rId26"/>
      <p:boldItalic r:id="rId27"/>
    </p:embeddedFont>
    <p:embeddedFont>
      <p:font typeface="Outfi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InstrumentSansSemiBold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InstrumentSansSemiBold-boldItalic.fntdata"/><Relationship Id="rId24" Type="http://schemas.openxmlformats.org/officeDocument/2006/relationships/font" Target="fonts/InstrumentSans-regular.fntdata"/><Relationship Id="rId23" Type="http://schemas.openxmlformats.org/officeDocument/2006/relationships/font" Target="fonts/Outfit-bold.fntdata"/><Relationship Id="rId26" Type="http://schemas.openxmlformats.org/officeDocument/2006/relationships/font" Target="fonts/InstrumentSans-italic.fntdata"/><Relationship Id="rId25" Type="http://schemas.openxmlformats.org/officeDocument/2006/relationships/font" Target="fonts/InstrumentSans-bold.fntdata"/><Relationship Id="rId28" Type="http://schemas.openxmlformats.org/officeDocument/2006/relationships/font" Target="fonts/OutfitSemiBold-regular.fntdata"/><Relationship Id="rId27" Type="http://schemas.openxmlformats.org/officeDocument/2006/relationships/font" Target="fonts/InstrumentSans-boldItalic.fntdata"/><Relationship Id="rId29" Type="http://schemas.openxmlformats.org/officeDocument/2006/relationships/font" Target="fonts/Outfit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strumentSansMedium-bold.fntdata"/><Relationship Id="rId14" Type="http://schemas.openxmlformats.org/officeDocument/2006/relationships/font" Target="fonts/InstrumentSansMedium-regular.fntdata"/><Relationship Id="rId17" Type="http://schemas.openxmlformats.org/officeDocument/2006/relationships/font" Target="fonts/InstrumentSansMedium-boldItalic.fntdata"/><Relationship Id="rId16" Type="http://schemas.openxmlformats.org/officeDocument/2006/relationships/font" Target="fonts/InstrumentSansMedium-italic.fntdata"/><Relationship Id="rId19" Type="http://schemas.openxmlformats.org/officeDocument/2006/relationships/font" Target="fonts/InstrumentSansSemiBold-bold.fntdata"/><Relationship Id="rId18" Type="http://schemas.openxmlformats.org/officeDocument/2006/relationships/font" Target="fonts/Instrumen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h6466d5187b53d9d3_1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h6466d5187b53d9d3_1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6466d5187b53d9d3_1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h6466d5187b53d9d3_1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6466d5187b53d9d3_1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h6466d5187b53d9d3_1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49fb97d740a4a404_1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h49fb97d740a4a404_1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6466d5187b53d9d3_1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6466d5187b53d9d3_1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6466d5187b53d9d3_1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6466d5187b53d9d3_1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49fb97d740a4a404_1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h49fb97d740a4a404_1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" name="Google Shape;55;p14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17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8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7" name="Google Shape;77;p18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" name="Google Shape;81;p19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3" name="Google Shape;83;p19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4" name="Google Shape;104;p20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5" name="Google Shape;105;p20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4" name="Google Shape;114;p21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21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6" name="Google Shape;116;p21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7" name="Google Shape;117;p21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5" name="Google Shape;125;p22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23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0" name="Google Shape;130;p23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" name="Google Shape;131;p23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2" name="Google Shape;132;p23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5" name="Google Shape;135;p23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23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6" name="Google Shape;146;p24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7" name="Google Shape;147;p24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1" name="Google Shape;151;p25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3" name="Google Shape;153;p25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25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7" name="Google Shape;157;p25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9" name="Google Shape;159;p25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0" name="Google Shape;160;p25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p26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26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" name="Google Shape;165;p26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26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67" name="Google Shape;167;p26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68" name="Google Shape;168;p26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69" name="Google Shape;169;p26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26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6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6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6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4" name="Google Shape;174;p26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27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8" name="Google Shape;178;p27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0" name="Google Shape;180;p27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1" name="Google Shape;181;p27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2" name="Google Shape;182;p27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3" name="Google Shape;183;p27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4" name="Google Shape;184;p27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5" name="Google Shape;185;p27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6" name="Google Shape;186;p27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" name="Google Shape;187;p27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8" name="Google Shape;188;p27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9" name="Google Shape;189;p27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90" name="Google Shape;190;p27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28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8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28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6" name="Google Shape;196;p28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28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8" name="Google Shape;198;p28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99" name="Google Shape;199;p28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0" name="Google Shape;200;p28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1" name="Google Shape;201;p28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2" name="Google Shape;202;p2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3" name="Google Shape;203;p2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7" name="Google Shape;207;p29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8" name="Google Shape;208;p29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9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0" name="Google Shape;210;p29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1" name="Google Shape;211;p29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2" name="Google Shape;212;p29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29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4" name="Google Shape;214;p29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9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6" name="Google Shape;216;p29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29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29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2" name="Google Shape;222;p30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4" name="Google Shape;224;p30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7" name="Google Shape;227;p30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8" name="Google Shape;228;p30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9" name="Google Shape;229;p30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0" name="Google Shape;230;p30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231" name="Google Shape;231;p30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2" name="Google Shape;232;p30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5" name="Google Shape;235;p31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7" name="Google Shape;237;p31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1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0" name="Google Shape;240;p31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31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1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6" name="Google Shape;246;p31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8" name="Google Shape;248;p31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3" name="Google Shape;253;p32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4" name="Google Shape;254;p32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5" name="Google Shape;255;p32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6" name="Google Shape;256;p32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8" name="Google Shape;258;p32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59" name="Google Shape;259;p3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60" name="Google Shape;260;p3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4" name="Google Shape;264;p33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6" name="Google Shape;266;p33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9" name="Google Shape;269;p33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7" name="Google Shape;277;p34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34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80" name="Google Shape;280;p34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3" name="Google Shape;283;p35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5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5" name="Google Shape;285;p35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6" name="Google Shape;286;p35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7" name="Google Shape;287;p35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8" name="Google Shape;288;p35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9" name="Google Shape;289;p35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1" name="Google Shape;291;p35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35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5" name="Google Shape;295;p36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6" name="Google Shape;296;p36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7" name="Google Shape;297;p36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6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9" name="Google Shape;299;p36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00" name="Google Shape;300;p3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01" name="Google Shape;301;p36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36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4" name="Google Shape;304;p36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5" name="Google Shape;305;p36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6" name="Google Shape;306;p36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309" name="Google Shape;309;p37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0" name="Google Shape;310;p37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1" name="Google Shape;311;p37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2" name="Google Shape;312;p37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3" name="Google Shape;313;p37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4" name="Google Shape;314;p37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8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8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8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38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38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4" name="Google Shape;324;p38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38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1" name="Google Shape;331;p39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332" name="Google Shape;332;p39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3" name="Google Shape;333;p39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39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5" name="Google Shape;335;p3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6" name="Google Shape;336;p3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7" name="Google Shape;337;p39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43" name="Google Shape;343;p40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4" name="Google Shape;344;p40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5" name="Google Shape;345;p40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6" name="Google Shape;346;p40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7" name="Google Shape;347;p40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8" name="Google Shape;348;p40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9" name="Google Shape;349;p40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0" name="Google Shape;350;p40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1" name="Google Shape;351;p40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2" name="Google Shape;352;p40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4" name="Google Shape;354;p40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6" name="Google Shape;356;p40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8" name="Google Shape;358;p40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1" name="Google Shape;36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6" name="Google Shape;36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0" name="Google Shape;38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1" name="Google Shape;38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6" name="Google Shape;386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0" name="Google Shape;390;p5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5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5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5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5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5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5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2" name="Google Shape;402;p5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5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5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0" name="Google Shape;420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26" name="Google Shape;426;p5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33" name="Google Shape;433;p5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5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43" name="Google Shape;443;p5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4" name="Google Shape;444;p5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5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6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6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6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6" name="Google Shape;456;p6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6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subTitle"/>
          </p:nvPr>
        </p:nvSpPr>
        <p:spPr>
          <a:xfrm>
            <a:off x="1008000" y="2905200"/>
            <a:ext cx="60567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Ananya Subramaniam and Sree Lasya Gogineni</a:t>
            </a:r>
            <a:endParaRPr sz="2000"/>
          </a:p>
        </p:txBody>
      </p:sp>
      <p:sp>
        <p:nvSpPr>
          <p:cNvPr id="464" name="Google Shape;464;p62"/>
          <p:cNvSpPr txBox="1"/>
          <p:nvPr>
            <p:ph type="title"/>
          </p:nvPr>
        </p:nvSpPr>
        <p:spPr>
          <a:xfrm>
            <a:off x="1008000" y="587700"/>
            <a:ext cx="4957200" cy="23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Popular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Music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Time</a:t>
            </a:r>
            <a:endParaRPr/>
          </a:p>
        </p:txBody>
      </p:sp>
      <p:pic>
        <p:nvPicPr>
          <p:cNvPr descr="An abstract texture of raised wave shapes on a white surface. " id="465" name="Google Shape;465;p62"/>
          <p:cNvPicPr preferRelativeResize="0"/>
          <p:nvPr/>
        </p:nvPicPr>
        <p:blipFill rotWithShape="1">
          <a:blip r:embed="rId3">
            <a:alphaModFix amt="50000"/>
          </a:blip>
          <a:srcRect b="0" l="23650" r="43595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3"/>
          <p:cNvSpPr txBox="1"/>
          <p:nvPr>
            <p:ph type="title"/>
          </p:nvPr>
        </p:nvSpPr>
        <p:spPr>
          <a:xfrm>
            <a:off x="311700" y="445025"/>
            <a:ext cx="2037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6"/>
                </a:solidFill>
              </a:rPr>
              <a:t>Goal</a:t>
            </a:r>
            <a:endParaRPr sz="5100">
              <a:solidFill>
                <a:schemeClr val="accent6"/>
              </a:solidFill>
            </a:endParaRPr>
          </a:p>
        </p:txBody>
      </p:sp>
      <p:sp>
        <p:nvSpPr>
          <p:cNvPr id="471" name="Google Shape;471;p63"/>
          <p:cNvSpPr txBox="1"/>
          <p:nvPr>
            <p:ph idx="1" type="body"/>
          </p:nvPr>
        </p:nvSpPr>
        <p:spPr>
          <a:xfrm>
            <a:off x="348700" y="1399875"/>
            <a:ext cx="3999900" cy="26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“To what extent have the characteristics of popular songs changed over time?”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Understand trends in pop music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Compare songs across decades (1965 to 2025)</a:t>
            </a:r>
            <a:endParaRPr sz="2000"/>
          </a:p>
        </p:txBody>
      </p:sp>
      <p:sp>
        <p:nvSpPr>
          <p:cNvPr id="472" name="Google Shape;472;p63"/>
          <p:cNvSpPr txBox="1"/>
          <p:nvPr>
            <p:ph idx="2" type="body"/>
          </p:nvPr>
        </p:nvSpPr>
        <p:spPr>
          <a:xfrm>
            <a:off x="4832400" y="1152475"/>
            <a:ext cx="41175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Observation and Measurement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Existing datasets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Kaggle - Spotify Tracks Dataset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Kaggle - Billboard Hot 100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Github Repo by mhollingshead - Historic Billboard Hot 100 Data</a:t>
            </a:r>
            <a:endParaRPr sz="2000"/>
          </a:p>
        </p:txBody>
      </p:sp>
      <p:sp>
        <p:nvSpPr>
          <p:cNvPr id="473" name="Google Shape;473;p63"/>
          <p:cNvSpPr txBox="1"/>
          <p:nvPr>
            <p:ph type="title"/>
          </p:nvPr>
        </p:nvSpPr>
        <p:spPr>
          <a:xfrm>
            <a:off x="4832400" y="481175"/>
            <a:ext cx="3999900" cy="5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2"/>
                </a:solidFill>
              </a:rPr>
              <a:t>Mode of Collection</a:t>
            </a:r>
            <a:endParaRPr sz="35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4"/>
          <p:cNvSpPr/>
          <p:nvPr/>
        </p:nvSpPr>
        <p:spPr>
          <a:xfrm flipH="1">
            <a:off x="6319934" y="3424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9" name="Google Shape;479;p64"/>
          <p:cNvSpPr/>
          <p:nvPr/>
        </p:nvSpPr>
        <p:spPr>
          <a:xfrm flipH="1">
            <a:off x="6319934" y="6926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0" name="Google Shape;480;p64"/>
          <p:cNvSpPr/>
          <p:nvPr/>
        </p:nvSpPr>
        <p:spPr>
          <a:xfrm flipH="1">
            <a:off x="578072" y="2829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1" name="Google Shape;481;p64"/>
          <p:cNvSpPr/>
          <p:nvPr/>
        </p:nvSpPr>
        <p:spPr>
          <a:xfrm flipH="1">
            <a:off x="578072" y="6331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2" name="Google Shape;482;p64"/>
          <p:cNvSpPr/>
          <p:nvPr/>
        </p:nvSpPr>
        <p:spPr>
          <a:xfrm flipH="1">
            <a:off x="3339497" y="2829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3" name="Google Shape;483;p64"/>
          <p:cNvSpPr/>
          <p:nvPr/>
        </p:nvSpPr>
        <p:spPr>
          <a:xfrm flipH="1">
            <a:off x="3339497" y="6331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4" name="Google Shape;484;p64"/>
          <p:cNvSpPr txBox="1"/>
          <p:nvPr>
            <p:ph idx="2" type="body"/>
          </p:nvPr>
        </p:nvSpPr>
        <p:spPr>
          <a:xfrm>
            <a:off x="577997" y="483798"/>
            <a:ext cx="2304900" cy="41478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Outfit"/>
              <a:buChar char="●"/>
            </a:pPr>
            <a:r>
              <a:rPr lang="en" sz="1300">
                <a:latin typeface="Outfit"/>
                <a:ea typeface="Outfit"/>
                <a:cs typeface="Outfit"/>
                <a:sym typeface="Outfit"/>
              </a:rPr>
              <a:t>JSON and CSV </a:t>
            </a:r>
            <a:endParaRPr sz="1300"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Outfit"/>
              <a:buChar char="●"/>
            </a:pPr>
            <a:r>
              <a:rPr lang="en" sz="1300">
                <a:latin typeface="Outfit"/>
                <a:ea typeface="Outfit"/>
                <a:cs typeface="Outfit"/>
                <a:sym typeface="Outfit"/>
              </a:rPr>
              <a:t>Joined 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Spotify Tracks Kaggle Dataset and Billboard Hot 100 Kaggle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 dataset based on track_name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 and 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artists</a:t>
            </a:r>
            <a:endParaRPr sz="1300"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Outfit"/>
              <a:buChar char="●"/>
            </a:pPr>
            <a:r>
              <a:rPr lang="en" sz="1300">
                <a:latin typeface="Outfit"/>
                <a:ea typeface="Outfit"/>
                <a:cs typeface="Outfit"/>
                <a:sym typeface="Outfit"/>
              </a:rPr>
              <a:t>New dataset joined with 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Historic Billboard Hot 100 Data Github </a:t>
            </a:r>
            <a:r>
              <a:rPr lang="en" sz="1300">
                <a:latin typeface="Outfit"/>
                <a:ea typeface="Outfit"/>
                <a:cs typeface="Outfit"/>
                <a:sym typeface="Outfit"/>
              </a:rPr>
              <a:t>Repo on track_name, artist, and date</a:t>
            </a:r>
            <a:endParaRPr sz="13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5" name="Google Shape;485;p64"/>
          <p:cNvSpPr txBox="1"/>
          <p:nvPr>
            <p:ph type="title"/>
          </p:nvPr>
        </p:nvSpPr>
        <p:spPr>
          <a:xfrm>
            <a:off x="577997" y="803600"/>
            <a:ext cx="2064000" cy="249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486" name="Google Shape;486;p64"/>
          <p:cNvSpPr txBox="1"/>
          <p:nvPr>
            <p:ph idx="4" type="subTitle"/>
          </p:nvPr>
        </p:nvSpPr>
        <p:spPr>
          <a:xfrm>
            <a:off x="577997" y="3967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7" name="Google Shape;487;p64"/>
          <p:cNvSpPr txBox="1"/>
          <p:nvPr>
            <p:ph idx="3" type="body"/>
          </p:nvPr>
        </p:nvSpPr>
        <p:spPr>
          <a:xfrm>
            <a:off x="3339496" y="1209398"/>
            <a:ext cx="2304900" cy="34221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Initially - we had only a limited number of songs per year, with the maximum being 42 songs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Debugging led to seeing that artists were listed differently across the data sets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“Taylor; Zayn” vs “Taylor &amp; Zayn” vs “Taylor”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8" name="Google Shape;488;p64"/>
          <p:cNvSpPr txBox="1"/>
          <p:nvPr>
            <p:ph idx="5" type="title"/>
          </p:nvPr>
        </p:nvSpPr>
        <p:spPr>
          <a:xfrm>
            <a:off x="3339496" y="803600"/>
            <a:ext cx="2064000" cy="2772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</a:t>
            </a:r>
            <a:endParaRPr/>
          </a:p>
        </p:txBody>
      </p:sp>
      <p:sp>
        <p:nvSpPr>
          <p:cNvPr id="489" name="Google Shape;489;p64"/>
          <p:cNvSpPr txBox="1"/>
          <p:nvPr>
            <p:ph idx="6" type="subTitle"/>
          </p:nvPr>
        </p:nvSpPr>
        <p:spPr>
          <a:xfrm>
            <a:off x="3339496" y="3967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0" name="Google Shape;490;p64"/>
          <p:cNvSpPr txBox="1"/>
          <p:nvPr>
            <p:ph idx="1" type="body"/>
          </p:nvPr>
        </p:nvSpPr>
        <p:spPr>
          <a:xfrm>
            <a:off x="6199559" y="1314250"/>
            <a:ext cx="2304900" cy="25176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Important to match up the data columns and see how the values are stored before joining datasets together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Would’ve skewed our data and our analysis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64"/>
          <p:cNvSpPr txBox="1"/>
          <p:nvPr>
            <p:ph idx="7" type="title"/>
          </p:nvPr>
        </p:nvSpPr>
        <p:spPr>
          <a:xfrm>
            <a:off x="6320009" y="863100"/>
            <a:ext cx="2064000" cy="2772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492" name="Google Shape;492;p64"/>
          <p:cNvSpPr txBox="1"/>
          <p:nvPr>
            <p:ph idx="8" type="subTitle"/>
          </p:nvPr>
        </p:nvSpPr>
        <p:spPr>
          <a:xfrm>
            <a:off x="6320009" y="4562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 txBox="1"/>
          <p:nvPr>
            <p:ph type="title"/>
          </p:nvPr>
        </p:nvSpPr>
        <p:spPr>
          <a:xfrm>
            <a:off x="311700" y="445025"/>
            <a:ext cx="38382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5"/>
                </a:solidFill>
              </a:rPr>
              <a:t>Organization</a:t>
            </a:r>
            <a:endParaRPr sz="5100">
              <a:solidFill>
                <a:schemeClr val="accent5"/>
              </a:solidFill>
            </a:endParaRPr>
          </a:p>
        </p:txBody>
      </p:sp>
      <p:sp>
        <p:nvSpPr>
          <p:cNvPr id="498" name="Google Shape;498;p65"/>
          <p:cNvSpPr txBox="1"/>
          <p:nvPr>
            <p:ph idx="1" type="body"/>
          </p:nvPr>
        </p:nvSpPr>
        <p:spPr>
          <a:xfrm>
            <a:off x="348700" y="1295350"/>
            <a:ext cx="7985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New table - new key → track_name, artist, and date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Column names are descriptive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Original datasets have definitions for cross-verification </a:t>
            </a:r>
            <a:endParaRPr sz="2000"/>
          </a:p>
        </p:txBody>
      </p:sp>
      <p:sp>
        <p:nvSpPr>
          <p:cNvPr id="499" name="Google Shape;499;p65"/>
          <p:cNvSpPr txBox="1"/>
          <p:nvPr>
            <p:ph type="title"/>
          </p:nvPr>
        </p:nvSpPr>
        <p:spPr>
          <a:xfrm>
            <a:off x="348700" y="2689875"/>
            <a:ext cx="6330600" cy="5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4"/>
                </a:solidFill>
              </a:rPr>
              <a:t>Metadata</a:t>
            </a:r>
            <a:endParaRPr sz="5100">
              <a:solidFill>
                <a:schemeClr val="accent4"/>
              </a:solidFill>
            </a:endParaRPr>
          </a:p>
        </p:txBody>
      </p:sp>
      <p:sp>
        <p:nvSpPr>
          <p:cNvPr id="500" name="Google Shape;500;p65"/>
          <p:cNvSpPr txBox="1"/>
          <p:nvPr>
            <p:ph idx="1" type="body"/>
          </p:nvPr>
        </p:nvSpPr>
        <p:spPr>
          <a:xfrm>
            <a:off x="526350" y="3501450"/>
            <a:ext cx="7985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Background song info - danceability, duration, time, energy, valence, and tempo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Traceable from the original datasets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6"/>
          <p:cNvSpPr txBox="1"/>
          <p:nvPr>
            <p:ph type="title"/>
          </p:nvPr>
        </p:nvSpPr>
        <p:spPr>
          <a:xfrm>
            <a:off x="311700" y="445025"/>
            <a:ext cx="3018300" cy="4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2"/>
                </a:solidFill>
              </a:rPr>
              <a:t>Energy vs Time</a:t>
            </a:r>
            <a:endParaRPr b="1" sz="3000">
              <a:solidFill>
                <a:schemeClr val="accent2"/>
              </a:solidFill>
            </a:endParaRPr>
          </a:p>
        </p:txBody>
      </p:sp>
      <p:sp>
        <p:nvSpPr>
          <p:cNvPr id="506" name="Google Shape;506;p6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</p:spPr>
      </p:sp>
      <p:pic>
        <p:nvPicPr>
          <p:cNvPr id="507" name="Google Shape;50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350" y="42088"/>
            <a:ext cx="5012201" cy="247476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8" name="Google Shape;508;p66"/>
          <p:cNvSpPr txBox="1"/>
          <p:nvPr>
            <p:ph type="title"/>
          </p:nvPr>
        </p:nvSpPr>
        <p:spPr>
          <a:xfrm>
            <a:off x="311700" y="3157725"/>
            <a:ext cx="3018300" cy="81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Danceability </a:t>
            </a:r>
            <a:r>
              <a:rPr b="1" lang="en" sz="3000">
                <a:solidFill>
                  <a:schemeClr val="dk2"/>
                </a:solidFill>
              </a:rPr>
              <a:t>vs Time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509" name="Google Shape;50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000" y="2665475"/>
            <a:ext cx="5010912" cy="247802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7"/>
          <p:cNvSpPr txBox="1"/>
          <p:nvPr>
            <p:ph type="title"/>
          </p:nvPr>
        </p:nvSpPr>
        <p:spPr>
          <a:xfrm>
            <a:off x="311700" y="445025"/>
            <a:ext cx="3018300" cy="4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</a:rPr>
              <a:t>Valence </a:t>
            </a:r>
            <a:r>
              <a:rPr b="1" lang="en" sz="3000">
                <a:solidFill>
                  <a:schemeClr val="accent1"/>
                </a:solidFill>
              </a:rPr>
              <a:t>vs Time</a:t>
            </a:r>
            <a:endParaRPr b="1" sz="3000">
              <a:solidFill>
                <a:schemeClr val="accent1"/>
              </a:solidFill>
            </a:endParaRPr>
          </a:p>
        </p:txBody>
      </p:sp>
      <p:sp>
        <p:nvSpPr>
          <p:cNvPr id="515" name="Google Shape;515;p6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</p:spPr>
      </p:sp>
      <p:sp>
        <p:nvSpPr>
          <p:cNvPr id="516" name="Google Shape;516;p67"/>
          <p:cNvSpPr txBox="1"/>
          <p:nvPr>
            <p:ph type="title"/>
          </p:nvPr>
        </p:nvSpPr>
        <p:spPr>
          <a:xfrm>
            <a:off x="311700" y="3157725"/>
            <a:ext cx="3018300" cy="81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5"/>
                </a:solidFill>
              </a:rPr>
              <a:t>Tempo </a:t>
            </a:r>
            <a:r>
              <a:rPr b="1" lang="en" sz="3000">
                <a:solidFill>
                  <a:schemeClr val="accent5"/>
                </a:solidFill>
              </a:rPr>
              <a:t>vs Time</a:t>
            </a:r>
            <a:endParaRPr b="1" sz="3000">
              <a:solidFill>
                <a:schemeClr val="accent5"/>
              </a:solidFill>
            </a:endParaRPr>
          </a:p>
        </p:txBody>
      </p:sp>
      <p:pic>
        <p:nvPicPr>
          <p:cNvPr id="517" name="Google Shape;5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000" y="0"/>
            <a:ext cx="5010912" cy="247802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8" name="Google Shape;51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000" y="2571750"/>
            <a:ext cx="5010912" cy="247802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9" name="Google Shape;519;p67"/>
          <p:cNvSpPr txBox="1"/>
          <p:nvPr/>
        </p:nvSpPr>
        <p:spPr>
          <a:xfrm>
            <a:off x="284775" y="1050913"/>
            <a:ext cx="2423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Valence = mood of the song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0" name="Google Shape;520;p67"/>
          <p:cNvSpPr txBox="1"/>
          <p:nvPr/>
        </p:nvSpPr>
        <p:spPr>
          <a:xfrm>
            <a:off x="311700" y="3740325"/>
            <a:ext cx="15675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Measured in BPM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8"/>
          <p:cNvSpPr txBox="1"/>
          <p:nvPr>
            <p:ph type="title"/>
          </p:nvPr>
        </p:nvSpPr>
        <p:spPr>
          <a:xfrm>
            <a:off x="311700" y="445025"/>
            <a:ext cx="3018300" cy="4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Duration</a:t>
            </a:r>
            <a:r>
              <a:rPr b="1" lang="en" sz="3000">
                <a:solidFill>
                  <a:schemeClr val="accent4"/>
                </a:solidFill>
              </a:rPr>
              <a:t> vs Time</a:t>
            </a:r>
            <a:endParaRPr b="1" sz="3000">
              <a:solidFill>
                <a:schemeClr val="accent4"/>
              </a:solidFill>
            </a:endParaRPr>
          </a:p>
        </p:txBody>
      </p:sp>
      <p:sp>
        <p:nvSpPr>
          <p:cNvPr id="526" name="Google Shape;526;p68"/>
          <p:cNvSpPr txBox="1"/>
          <p:nvPr>
            <p:ph type="title"/>
          </p:nvPr>
        </p:nvSpPr>
        <p:spPr>
          <a:xfrm>
            <a:off x="311700" y="3157725"/>
            <a:ext cx="3018300" cy="81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Genre By The Years</a:t>
            </a:r>
            <a:endParaRPr b="1" sz="3000"/>
          </a:p>
        </p:txBody>
      </p:sp>
      <p:pic>
        <p:nvPicPr>
          <p:cNvPr id="527" name="Google Shape;52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050" y="98975"/>
            <a:ext cx="4498925" cy="22213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8" name="Google Shape;52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475" y="2442135"/>
            <a:ext cx="4574050" cy="2591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